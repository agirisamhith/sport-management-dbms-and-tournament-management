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Times New Roman Bold" charset="1" panose="02020803070505020304"/>
      <p:regular r:id="rId12"/>
    </p:embeddedFont>
    <p:embeddedFont>
      <p:font typeface="DM Serif Display" charset="1" panose="00000000000000000000"/>
      <p:regular r:id="rId13"/>
    </p:embeddedFont>
    <p:embeddedFont>
      <p:font typeface="Times New Roman" charset="1" panose="02020603050405020304"/>
      <p:regular r:id="rId14"/>
    </p:embeddedFont>
    <p:embeddedFont>
      <p:font typeface="Times New Roman Bold Italics" charset="1" panose="02020703060505090304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4.png" Type="http://schemas.openxmlformats.org/officeDocument/2006/relationships/image"/><Relationship Id="rId11" Target="../media/image15.svg" Type="http://schemas.openxmlformats.org/officeDocument/2006/relationships/image"/><Relationship Id="rId12" Target="../media/image2.png" Type="http://schemas.openxmlformats.org/officeDocument/2006/relationships/image"/><Relationship Id="rId13" Target="../media/image3.svg" Type="http://schemas.openxmlformats.org/officeDocument/2006/relationships/image"/><Relationship Id="rId14" Target="../media/image4.png" Type="http://schemas.openxmlformats.org/officeDocument/2006/relationships/image"/><Relationship Id="rId15" Target="../media/image5.svg" Type="http://schemas.openxmlformats.org/officeDocument/2006/relationships/image"/><Relationship Id="rId16" Target="../media/image16.png" Type="http://schemas.openxmlformats.org/officeDocument/2006/relationships/image"/><Relationship Id="rId17" Target="../media/image17.svg" Type="http://schemas.openxmlformats.org/officeDocument/2006/relationships/image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Relationship Id="rId6" Target="../media/image10.png" Type="http://schemas.openxmlformats.org/officeDocument/2006/relationships/image"/><Relationship Id="rId7" Target="../media/image11.svg" Type="http://schemas.openxmlformats.org/officeDocument/2006/relationships/image"/><Relationship Id="rId8" Target="../media/image12.png" Type="http://schemas.openxmlformats.org/officeDocument/2006/relationships/image"/><Relationship Id="rId9" Target="../media/image13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media/image19.svg" Type="http://schemas.openxmlformats.org/officeDocument/2006/relationships/image"/><Relationship Id="rId4" Target="../media/image2.png" Type="http://schemas.openxmlformats.org/officeDocument/2006/relationships/image"/><Relationship Id="rId5" Target="../media/image3.svg" Type="http://schemas.openxmlformats.org/officeDocument/2006/relationships/image"/><Relationship Id="rId6" Target="../media/image4.png" Type="http://schemas.openxmlformats.org/officeDocument/2006/relationships/image"/><Relationship Id="rId7" Target="../media/image5.svg" Type="http://schemas.openxmlformats.org/officeDocument/2006/relationships/image"/><Relationship Id="rId8" Target="../media/image20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Relationship Id="rId6" Target="../media/image21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Relationship Id="rId6" Target="../media/image2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Relationship Id="rId6" Target="../media/image23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61576" y="-573506"/>
            <a:ext cx="19611152" cy="10850670"/>
          </a:xfrm>
          <a:custGeom>
            <a:avLst/>
            <a:gdLst/>
            <a:ahLst/>
            <a:cxnLst/>
            <a:rect r="r" b="b" t="t" l="l"/>
            <a:pathLst>
              <a:path h="10850670" w="19611152">
                <a:moveTo>
                  <a:pt x="0" y="0"/>
                </a:moveTo>
                <a:lnTo>
                  <a:pt x="19611152" y="0"/>
                </a:lnTo>
                <a:lnTo>
                  <a:pt x="19611152" y="10850669"/>
                </a:lnTo>
                <a:lnTo>
                  <a:pt x="0" y="108506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7000"/>
            </a:blip>
            <a:stretch>
              <a:fillRect l="0" t="-17776" r="0" b="-17776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597" y="0"/>
            <a:ext cx="2904997" cy="1728925"/>
          </a:xfrm>
          <a:custGeom>
            <a:avLst/>
            <a:gdLst/>
            <a:ahLst/>
            <a:cxnLst/>
            <a:rect r="r" b="b" t="t" l="l"/>
            <a:pathLst>
              <a:path h="1728925" w="2904997">
                <a:moveTo>
                  <a:pt x="0" y="0"/>
                </a:moveTo>
                <a:lnTo>
                  <a:pt x="2904997" y="0"/>
                </a:lnTo>
                <a:lnTo>
                  <a:pt x="2904997" y="1728925"/>
                </a:lnTo>
                <a:lnTo>
                  <a:pt x="0" y="172892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441757" y="8543543"/>
            <a:ext cx="2846243" cy="1733621"/>
          </a:xfrm>
          <a:custGeom>
            <a:avLst/>
            <a:gdLst/>
            <a:ahLst/>
            <a:cxnLst/>
            <a:rect r="r" b="b" t="t" l="l"/>
            <a:pathLst>
              <a:path h="1733621" w="2846243">
                <a:moveTo>
                  <a:pt x="0" y="0"/>
                </a:moveTo>
                <a:lnTo>
                  <a:pt x="2846243" y="0"/>
                </a:lnTo>
                <a:lnTo>
                  <a:pt x="2846243" y="1733620"/>
                </a:lnTo>
                <a:lnTo>
                  <a:pt x="0" y="173362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3293565" y="322964"/>
            <a:ext cx="11716793" cy="3466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59"/>
              </a:lnSpc>
            </a:pPr>
            <a:r>
              <a:rPr lang="en-US" b="true" sz="48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Design and Implementation of a Database Management System for Sports Club Membership and Tournament Management</a:t>
            </a:r>
          </a:p>
          <a:p>
            <a:pPr algn="ctr">
              <a:lnSpc>
                <a:spcPts val="6859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4114978" y="4389464"/>
            <a:ext cx="10058043" cy="4438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57"/>
              </a:lnSpc>
              <a:spcBef>
                <a:spcPct val="0"/>
              </a:spcBef>
            </a:pPr>
            <a:r>
              <a:rPr lang="en-US" sz="3657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TEAM MEMBERS</a:t>
            </a:r>
          </a:p>
          <a:p>
            <a:pPr algn="ctr">
              <a:lnSpc>
                <a:spcPts val="3657"/>
              </a:lnSpc>
              <a:spcBef>
                <a:spcPct val="0"/>
              </a:spcBef>
            </a:pPr>
            <a:r>
              <a:rPr lang="en-US" sz="3657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Likhith Ram — 25WU0101038</a:t>
            </a:r>
          </a:p>
          <a:p>
            <a:pPr algn="ctr">
              <a:lnSpc>
                <a:spcPts val="3657"/>
              </a:lnSpc>
              <a:spcBef>
                <a:spcPct val="0"/>
              </a:spcBef>
            </a:pPr>
            <a:r>
              <a:rPr lang="en-US" sz="3657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Sai Samhith — 25WU0101008</a:t>
            </a:r>
          </a:p>
          <a:p>
            <a:pPr algn="ctr">
              <a:lnSpc>
                <a:spcPts val="3657"/>
              </a:lnSpc>
              <a:spcBef>
                <a:spcPct val="0"/>
              </a:spcBef>
            </a:pPr>
            <a:r>
              <a:rPr lang="en-US" sz="3657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Vidhathreya — 25WU0101040</a:t>
            </a:r>
          </a:p>
          <a:p>
            <a:pPr algn="ctr">
              <a:lnSpc>
                <a:spcPts val="3657"/>
              </a:lnSpc>
              <a:spcBef>
                <a:spcPct val="0"/>
              </a:spcBef>
            </a:pPr>
            <a:r>
              <a:rPr lang="en-US" sz="3657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Woxsen University — School of Technology</a:t>
            </a:r>
          </a:p>
          <a:p>
            <a:pPr algn="ctr">
              <a:lnSpc>
                <a:spcPts val="3657"/>
              </a:lnSpc>
              <a:spcBef>
                <a:spcPct val="0"/>
              </a:spcBef>
            </a:pPr>
            <a:r>
              <a:rPr lang="en-US" sz="3657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B.Tech CSE | CSE – Tigers</a:t>
            </a:r>
          </a:p>
          <a:p>
            <a:pPr algn="ctr">
              <a:lnSpc>
                <a:spcPts val="4103"/>
              </a:lnSpc>
              <a:spcBef>
                <a:spcPct val="0"/>
              </a:spcBef>
            </a:pPr>
          </a:p>
          <a:p>
            <a:pPr algn="ctr">
              <a:lnSpc>
                <a:spcPts val="4549"/>
              </a:lnSpc>
              <a:spcBef>
                <a:spcPct val="0"/>
              </a:spcBef>
            </a:pPr>
            <a:r>
              <a:rPr lang="en-US" sz="4549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PostgreSQL Relational Database Project</a:t>
            </a:r>
          </a:p>
          <a:p>
            <a:pPr algn="ctr">
              <a:lnSpc>
                <a:spcPts val="454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958995" y="3999590"/>
            <a:ext cx="4074598" cy="5410763"/>
            <a:chOff x="0" y="0"/>
            <a:chExt cx="1073145" cy="142505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73145" cy="1425057"/>
            </a:xfrm>
            <a:custGeom>
              <a:avLst/>
              <a:gdLst/>
              <a:ahLst/>
              <a:cxnLst/>
              <a:rect r="r" b="b" t="t" l="l"/>
              <a:pathLst>
                <a:path h="1425057" w="1073145">
                  <a:moveTo>
                    <a:pt x="28501" y="0"/>
                  </a:moveTo>
                  <a:lnTo>
                    <a:pt x="1044645" y="0"/>
                  </a:lnTo>
                  <a:cubicBezTo>
                    <a:pt x="1060385" y="0"/>
                    <a:pt x="1073145" y="12760"/>
                    <a:pt x="1073145" y="28501"/>
                  </a:cubicBezTo>
                  <a:lnTo>
                    <a:pt x="1073145" y="1396556"/>
                  </a:lnTo>
                  <a:cubicBezTo>
                    <a:pt x="1073145" y="1404115"/>
                    <a:pt x="1070143" y="1411364"/>
                    <a:pt x="1064798" y="1416709"/>
                  </a:cubicBezTo>
                  <a:cubicBezTo>
                    <a:pt x="1059453" y="1422054"/>
                    <a:pt x="1052203" y="1425057"/>
                    <a:pt x="1044645" y="1425057"/>
                  </a:cubicBezTo>
                  <a:lnTo>
                    <a:pt x="28501" y="1425057"/>
                  </a:lnTo>
                  <a:cubicBezTo>
                    <a:pt x="12760" y="1425057"/>
                    <a:pt x="0" y="1412297"/>
                    <a:pt x="0" y="1396556"/>
                  </a:cubicBezTo>
                  <a:lnTo>
                    <a:pt x="0" y="28501"/>
                  </a:lnTo>
                  <a:cubicBezTo>
                    <a:pt x="0" y="12760"/>
                    <a:pt x="12760" y="0"/>
                    <a:pt x="28501" y="0"/>
                  </a:cubicBezTo>
                  <a:close/>
                </a:path>
              </a:pathLst>
            </a:custGeom>
            <a:solidFill>
              <a:srgbClr val="E6E6E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19050"/>
              <a:ext cx="1073145" cy="14060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708254" y="2824739"/>
            <a:ext cx="4449164" cy="1545841"/>
          </a:xfrm>
          <a:custGeom>
            <a:avLst/>
            <a:gdLst/>
            <a:ahLst/>
            <a:cxnLst/>
            <a:rect r="r" b="b" t="t" l="l"/>
            <a:pathLst>
              <a:path h="1545841" w="4449164">
                <a:moveTo>
                  <a:pt x="0" y="0"/>
                </a:moveTo>
                <a:lnTo>
                  <a:pt x="4449164" y="0"/>
                </a:lnTo>
                <a:lnTo>
                  <a:pt x="4449164" y="1545841"/>
                </a:lnTo>
                <a:lnTo>
                  <a:pt x="0" y="15458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7046333" y="4370580"/>
            <a:ext cx="4195333" cy="4433174"/>
            <a:chOff x="0" y="0"/>
            <a:chExt cx="1104944" cy="116758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04944" cy="1167585"/>
            </a:xfrm>
            <a:custGeom>
              <a:avLst/>
              <a:gdLst/>
              <a:ahLst/>
              <a:cxnLst/>
              <a:rect r="r" b="b" t="t" l="l"/>
              <a:pathLst>
                <a:path h="1167585" w="1104944">
                  <a:moveTo>
                    <a:pt x="27680" y="0"/>
                  </a:moveTo>
                  <a:lnTo>
                    <a:pt x="1077263" y="0"/>
                  </a:lnTo>
                  <a:cubicBezTo>
                    <a:pt x="1084605" y="0"/>
                    <a:pt x="1091645" y="2916"/>
                    <a:pt x="1096836" y="8107"/>
                  </a:cubicBezTo>
                  <a:cubicBezTo>
                    <a:pt x="1102027" y="13299"/>
                    <a:pt x="1104944" y="20339"/>
                    <a:pt x="1104944" y="27680"/>
                  </a:cubicBezTo>
                  <a:lnTo>
                    <a:pt x="1104944" y="1139905"/>
                  </a:lnTo>
                  <a:cubicBezTo>
                    <a:pt x="1104944" y="1147246"/>
                    <a:pt x="1102027" y="1154287"/>
                    <a:pt x="1096836" y="1159478"/>
                  </a:cubicBezTo>
                  <a:cubicBezTo>
                    <a:pt x="1091645" y="1164669"/>
                    <a:pt x="1084605" y="1167585"/>
                    <a:pt x="1077263" y="1167585"/>
                  </a:cubicBezTo>
                  <a:lnTo>
                    <a:pt x="27680" y="1167585"/>
                  </a:lnTo>
                  <a:cubicBezTo>
                    <a:pt x="20339" y="1167585"/>
                    <a:pt x="13299" y="1164669"/>
                    <a:pt x="8107" y="1159478"/>
                  </a:cubicBezTo>
                  <a:cubicBezTo>
                    <a:pt x="2916" y="1154287"/>
                    <a:pt x="0" y="1147246"/>
                    <a:pt x="0" y="1139905"/>
                  </a:cubicBezTo>
                  <a:lnTo>
                    <a:pt x="0" y="27680"/>
                  </a:lnTo>
                  <a:cubicBezTo>
                    <a:pt x="0" y="20339"/>
                    <a:pt x="2916" y="13299"/>
                    <a:pt x="8107" y="8107"/>
                  </a:cubicBezTo>
                  <a:cubicBezTo>
                    <a:pt x="13299" y="2916"/>
                    <a:pt x="20339" y="0"/>
                    <a:pt x="27680" y="0"/>
                  </a:cubicBezTo>
                  <a:close/>
                </a:path>
              </a:pathLst>
            </a:custGeom>
            <a:solidFill>
              <a:srgbClr val="E6E6E6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19050"/>
              <a:ext cx="1104944" cy="11485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6919418" y="3597659"/>
            <a:ext cx="4449164" cy="1545841"/>
          </a:xfrm>
          <a:custGeom>
            <a:avLst/>
            <a:gdLst/>
            <a:ahLst/>
            <a:cxnLst/>
            <a:rect r="r" b="b" t="t" l="l"/>
            <a:pathLst>
              <a:path h="1545841" w="4449164">
                <a:moveTo>
                  <a:pt x="0" y="0"/>
                </a:moveTo>
                <a:lnTo>
                  <a:pt x="4449164" y="0"/>
                </a:lnTo>
                <a:lnTo>
                  <a:pt x="4449164" y="1545841"/>
                </a:lnTo>
                <a:lnTo>
                  <a:pt x="0" y="154584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12130582" y="4370580"/>
            <a:ext cx="4195333" cy="4468253"/>
            <a:chOff x="0" y="0"/>
            <a:chExt cx="1104944" cy="117682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104944" cy="1176824"/>
            </a:xfrm>
            <a:custGeom>
              <a:avLst/>
              <a:gdLst/>
              <a:ahLst/>
              <a:cxnLst/>
              <a:rect r="r" b="b" t="t" l="l"/>
              <a:pathLst>
                <a:path h="1176824" w="1104944">
                  <a:moveTo>
                    <a:pt x="27680" y="0"/>
                  </a:moveTo>
                  <a:lnTo>
                    <a:pt x="1077263" y="0"/>
                  </a:lnTo>
                  <a:cubicBezTo>
                    <a:pt x="1084605" y="0"/>
                    <a:pt x="1091645" y="2916"/>
                    <a:pt x="1096836" y="8107"/>
                  </a:cubicBezTo>
                  <a:cubicBezTo>
                    <a:pt x="1102027" y="13299"/>
                    <a:pt x="1104944" y="20339"/>
                    <a:pt x="1104944" y="27680"/>
                  </a:cubicBezTo>
                  <a:lnTo>
                    <a:pt x="1104944" y="1149143"/>
                  </a:lnTo>
                  <a:cubicBezTo>
                    <a:pt x="1104944" y="1156485"/>
                    <a:pt x="1102027" y="1163525"/>
                    <a:pt x="1096836" y="1168716"/>
                  </a:cubicBezTo>
                  <a:cubicBezTo>
                    <a:pt x="1091645" y="1173907"/>
                    <a:pt x="1084605" y="1176824"/>
                    <a:pt x="1077263" y="1176824"/>
                  </a:cubicBezTo>
                  <a:lnTo>
                    <a:pt x="27680" y="1176824"/>
                  </a:lnTo>
                  <a:cubicBezTo>
                    <a:pt x="20339" y="1176824"/>
                    <a:pt x="13299" y="1173907"/>
                    <a:pt x="8107" y="1168716"/>
                  </a:cubicBezTo>
                  <a:cubicBezTo>
                    <a:pt x="2916" y="1163525"/>
                    <a:pt x="0" y="1156485"/>
                    <a:pt x="0" y="1149143"/>
                  </a:cubicBezTo>
                  <a:lnTo>
                    <a:pt x="0" y="27680"/>
                  </a:lnTo>
                  <a:cubicBezTo>
                    <a:pt x="0" y="20339"/>
                    <a:pt x="2916" y="13299"/>
                    <a:pt x="8107" y="8107"/>
                  </a:cubicBezTo>
                  <a:cubicBezTo>
                    <a:pt x="13299" y="2916"/>
                    <a:pt x="20339" y="0"/>
                    <a:pt x="27680" y="0"/>
                  </a:cubicBezTo>
                  <a:close/>
                </a:path>
              </a:pathLst>
            </a:custGeom>
            <a:solidFill>
              <a:srgbClr val="E6E6E6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19050"/>
              <a:ext cx="1104944" cy="11577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12006757" y="3597659"/>
            <a:ext cx="4449164" cy="1545841"/>
          </a:xfrm>
          <a:custGeom>
            <a:avLst/>
            <a:gdLst/>
            <a:ahLst/>
            <a:cxnLst/>
            <a:rect r="r" b="b" t="t" l="l"/>
            <a:pathLst>
              <a:path h="1545841" w="4449164">
                <a:moveTo>
                  <a:pt x="0" y="0"/>
                </a:moveTo>
                <a:lnTo>
                  <a:pt x="4449164" y="0"/>
                </a:lnTo>
                <a:lnTo>
                  <a:pt x="4449164" y="1545841"/>
                </a:lnTo>
                <a:lnTo>
                  <a:pt x="0" y="154584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2078231" y="3311909"/>
            <a:ext cx="586740" cy="586740"/>
          </a:xfrm>
          <a:custGeom>
            <a:avLst/>
            <a:gdLst/>
            <a:ahLst/>
            <a:cxnLst/>
            <a:rect r="r" b="b" t="t" l="l"/>
            <a:pathLst>
              <a:path h="586740" w="586740">
                <a:moveTo>
                  <a:pt x="0" y="0"/>
                </a:moveTo>
                <a:lnTo>
                  <a:pt x="586740" y="0"/>
                </a:lnTo>
                <a:lnTo>
                  <a:pt x="586740" y="586740"/>
                </a:lnTo>
                <a:lnTo>
                  <a:pt x="0" y="58674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7448657" y="4143446"/>
            <a:ext cx="417651" cy="454268"/>
          </a:xfrm>
          <a:custGeom>
            <a:avLst/>
            <a:gdLst/>
            <a:ahLst/>
            <a:cxnLst/>
            <a:rect r="r" b="b" t="t" l="l"/>
            <a:pathLst>
              <a:path h="454268" w="417651">
                <a:moveTo>
                  <a:pt x="0" y="0"/>
                </a:moveTo>
                <a:lnTo>
                  <a:pt x="417651" y="0"/>
                </a:lnTo>
                <a:lnTo>
                  <a:pt x="417651" y="454268"/>
                </a:lnTo>
                <a:lnTo>
                  <a:pt x="0" y="45426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5597" y="0"/>
            <a:ext cx="2904997" cy="1728925"/>
          </a:xfrm>
          <a:custGeom>
            <a:avLst/>
            <a:gdLst/>
            <a:ahLst/>
            <a:cxnLst/>
            <a:rect r="r" b="b" t="t" l="l"/>
            <a:pathLst>
              <a:path h="1728925" w="2904997">
                <a:moveTo>
                  <a:pt x="0" y="0"/>
                </a:moveTo>
                <a:lnTo>
                  <a:pt x="2904997" y="0"/>
                </a:lnTo>
                <a:lnTo>
                  <a:pt x="2904997" y="1728925"/>
                </a:lnTo>
                <a:lnTo>
                  <a:pt x="0" y="172892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5441757" y="8543543"/>
            <a:ext cx="2846243" cy="1733621"/>
          </a:xfrm>
          <a:custGeom>
            <a:avLst/>
            <a:gdLst/>
            <a:ahLst/>
            <a:cxnLst/>
            <a:rect r="r" b="b" t="t" l="l"/>
            <a:pathLst>
              <a:path h="1733621" w="2846243">
                <a:moveTo>
                  <a:pt x="0" y="0"/>
                </a:moveTo>
                <a:lnTo>
                  <a:pt x="2846243" y="0"/>
                </a:lnTo>
                <a:lnTo>
                  <a:pt x="2846243" y="1733620"/>
                </a:lnTo>
                <a:lnTo>
                  <a:pt x="0" y="173362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2535360" y="4110082"/>
            <a:ext cx="520995" cy="520995"/>
          </a:xfrm>
          <a:custGeom>
            <a:avLst/>
            <a:gdLst/>
            <a:ahLst/>
            <a:cxnLst/>
            <a:rect r="r" b="b" t="t" l="l"/>
            <a:pathLst>
              <a:path h="520995" w="520995">
                <a:moveTo>
                  <a:pt x="0" y="0"/>
                </a:moveTo>
                <a:lnTo>
                  <a:pt x="520994" y="0"/>
                </a:lnTo>
                <a:lnTo>
                  <a:pt x="520994" y="520995"/>
                </a:lnTo>
                <a:lnTo>
                  <a:pt x="0" y="520995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3293565" y="351539"/>
            <a:ext cx="11716793" cy="2960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</a:pPr>
            <a:r>
              <a:rPr lang="en-US" sz="42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</a:t>
            </a:r>
            <a:r>
              <a:rPr lang="en-US" sz="42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esign and Implementation of a Database Management System for Sports Club Membership and Tournament Management</a:t>
            </a:r>
          </a:p>
          <a:p>
            <a:pPr algn="ctr">
              <a:lnSpc>
                <a:spcPts val="5880"/>
              </a:lnSpc>
            </a:pPr>
          </a:p>
        </p:txBody>
      </p:sp>
      <p:sp>
        <p:nvSpPr>
          <p:cNvPr name="TextBox 20" id="20"/>
          <p:cNvSpPr txBox="true"/>
          <p:nvPr/>
        </p:nvSpPr>
        <p:spPr>
          <a:xfrm rot="0">
            <a:off x="2910594" y="3464309"/>
            <a:ext cx="2718434" cy="300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21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The P</a:t>
            </a:r>
            <a:r>
              <a:rPr lang="en-US" sz="21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roblem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8115097" y="4223407"/>
            <a:ext cx="2718434" cy="834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2100" b="true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Objectives</a:t>
            </a:r>
          </a:p>
          <a:p>
            <a:pPr algn="ctr">
              <a:lnSpc>
                <a:spcPts val="2100"/>
              </a:lnSpc>
            </a:pPr>
          </a:p>
          <a:p>
            <a:pPr algn="ctr">
              <a:lnSpc>
                <a:spcPts val="2100"/>
              </a:lnSpc>
            </a:pPr>
          </a:p>
        </p:txBody>
      </p:sp>
      <p:sp>
        <p:nvSpPr>
          <p:cNvPr name="TextBox 22" id="22"/>
          <p:cNvSpPr txBox="true"/>
          <p:nvPr/>
        </p:nvSpPr>
        <p:spPr>
          <a:xfrm rot="0">
            <a:off x="13304004" y="4223407"/>
            <a:ext cx="2718434" cy="834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21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Intended Us</a:t>
            </a:r>
            <a:r>
              <a:rPr lang="en-US" sz="21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ers</a:t>
            </a:r>
          </a:p>
          <a:p>
            <a:pPr algn="ctr">
              <a:lnSpc>
                <a:spcPts val="2100"/>
              </a:lnSpc>
            </a:pPr>
          </a:p>
          <a:p>
            <a:pPr algn="ctr">
              <a:lnSpc>
                <a:spcPts val="2100"/>
              </a:lnSpc>
            </a:pPr>
          </a:p>
        </p:txBody>
      </p:sp>
      <p:sp>
        <p:nvSpPr>
          <p:cNvPr name="TextBox 23" id="23"/>
          <p:cNvSpPr txBox="true"/>
          <p:nvPr/>
        </p:nvSpPr>
        <p:spPr>
          <a:xfrm rot="0">
            <a:off x="2371601" y="4369723"/>
            <a:ext cx="3122470" cy="4411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54545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lang="en-US" sz="1800">
                <a:solidFill>
                  <a:srgbClr val="54545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ports clubs manage large amounts of member, payment, team and tournament data.</a:t>
            </a:r>
          </a:p>
          <a:p>
            <a:pPr algn="l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54545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Manual or disconnected records can cause duplicate and inconsistent information.</a:t>
            </a:r>
          </a:p>
          <a:p>
            <a:pPr algn="l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54545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Facility and tournament scheduling can lead to conflicts.</a:t>
            </a:r>
          </a:p>
          <a:p>
            <a:pPr algn="l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54545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Equipment borrowing and returns are difficult to track accurately.</a:t>
            </a:r>
          </a:p>
          <a:p>
            <a:pPr algn="l">
              <a:lnSpc>
                <a:spcPts val="2520"/>
              </a:lnSpc>
            </a:pPr>
          </a:p>
        </p:txBody>
      </p:sp>
      <p:sp>
        <p:nvSpPr>
          <p:cNvPr name="TextBox 24" id="24"/>
          <p:cNvSpPr txBox="true"/>
          <p:nvPr/>
        </p:nvSpPr>
        <p:spPr>
          <a:xfrm rot="0">
            <a:off x="7448657" y="5372100"/>
            <a:ext cx="3219150" cy="2526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54545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-US" sz="1800">
                <a:solidFill>
                  <a:srgbClr val="54545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entralize all sports club data.</a:t>
            </a:r>
          </a:p>
          <a:p>
            <a:pPr algn="l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54545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Manage memberships and payments efficiently.</a:t>
            </a:r>
          </a:p>
          <a:p>
            <a:pPr algn="l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54545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Manage teams, coaches, tournaments and facilities.</a:t>
            </a:r>
          </a:p>
          <a:p>
            <a:pPr algn="l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54545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Maintain accurate and consistent records.</a:t>
            </a:r>
          </a:p>
          <a:p>
            <a:pPr algn="l">
              <a:lnSpc>
                <a:spcPts val="2520"/>
              </a:lnSpc>
            </a:pPr>
          </a:p>
        </p:txBody>
      </p:sp>
      <p:sp>
        <p:nvSpPr>
          <p:cNvPr name="TextBox 25" id="25"/>
          <p:cNvSpPr txBox="true"/>
          <p:nvPr/>
        </p:nvSpPr>
        <p:spPr>
          <a:xfrm rot="0">
            <a:off x="12570573" y="5237606"/>
            <a:ext cx="3602419" cy="3154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20"/>
              </a:lnSpc>
            </a:pPr>
            <a:r>
              <a:rPr lang="en-US" b="true" sz="1800">
                <a:solidFill>
                  <a:srgbClr val="54545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Club Adm</a:t>
            </a:r>
            <a:r>
              <a:rPr lang="en-US" b="true" sz="1800">
                <a:solidFill>
                  <a:srgbClr val="54545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inistrators</a:t>
            </a:r>
          </a:p>
          <a:p>
            <a:pPr algn="l" marL="0" indent="0" lvl="0">
              <a:lnSpc>
                <a:spcPts val="2520"/>
              </a:lnSpc>
            </a:pPr>
            <a:r>
              <a:rPr lang="en-US" sz="1800">
                <a:solidFill>
                  <a:srgbClr val="54545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Manage memberships, payments and policies.</a:t>
            </a:r>
          </a:p>
          <a:p>
            <a:pPr algn="l" marL="0" indent="0" lvl="0">
              <a:lnSpc>
                <a:spcPts val="2520"/>
              </a:lnSpc>
            </a:pPr>
            <a:r>
              <a:rPr lang="en-US" b="true" sz="1800">
                <a:solidFill>
                  <a:srgbClr val="54545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Sports Coordinators</a:t>
            </a:r>
          </a:p>
          <a:p>
            <a:pPr algn="l" marL="0" indent="0" lvl="0">
              <a:lnSpc>
                <a:spcPts val="2520"/>
              </a:lnSpc>
            </a:pPr>
            <a:r>
              <a:rPr lang="en-US" sz="1800">
                <a:solidFill>
                  <a:srgbClr val="54545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Manage tournaments, teams and fixtures.</a:t>
            </a:r>
          </a:p>
          <a:p>
            <a:pPr algn="l" marL="0" indent="0" lvl="0">
              <a:lnSpc>
                <a:spcPts val="2520"/>
              </a:lnSpc>
            </a:pPr>
            <a:r>
              <a:rPr lang="en-US" b="true" sz="1800">
                <a:solidFill>
                  <a:srgbClr val="54545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Club Staff</a:t>
            </a:r>
          </a:p>
          <a:p>
            <a:pPr algn="l" marL="0" indent="0" lvl="0">
              <a:lnSpc>
                <a:spcPts val="2520"/>
              </a:lnSpc>
            </a:pPr>
            <a:r>
              <a:rPr lang="en-US" sz="1800">
                <a:solidFill>
                  <a:srgbClr val="54545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Manage members, coaching and equipment.</a:t>
            </a:r>
          </a:p>
          <a:p>
            <a:pPr algn="l">
              <a:lnSpc>
                <a:spcPts val="2520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195269" y="6246598"/>
            <a:ext cx="371799" cy="353547"/>
          </a:xfrm>
          <a:custGeom>
            <a:avLst/>
            <a:gdLst/>
            <a:ahLst/>
            <a:cxnLst/>
            <a:rect r="r" b="b" t="t" l="l"/>
            <a:pathLst>
              <a:path h="353547" w="371799">
                <a:moveTo>
                  <a:pt x="0" y="0"/>
                </a:moveTo>
                <a:lnTo>
                  <a:pt x="371799" y="0"/>
                </a:lnTo>
                <a:lnTo>
                  <a:pt x="371799" y="353547"/>
                </a:lnTo>
                <a:lnTo>
                  <a:pt x="0" y="3535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0">
            <a:off x="5597" y="8558075"/>
            <a:ext cx="2904997" cy="1728925"/>
          </a:xfrm>
          <a:custGeom>
            <a:avLst/>
            <a:gdLst/>
            <a:ahLst/>
            <a:cxnLst/>
            <a:rect r="r" b="b" t="t" l="l"/>
            <a:pathLst>
              <a:path h="1728925" w="2904997">
                <a:moveTo>
                  <a:pt x="0" y="1728925"/>
                </a:moveTo>
                <a:lnTo>
                  <a:pt x="2904997" y="1728925"/>
                </a:lnTo>
                <a:lnTo>
                  <a:pt x="2904997" y="0"/>
                </a:lnTo>
                <a:lnTo>
                  <a:pt x="0" y="0"/>
                </a:lnTo>
                <a:lnTo>
                  <a:pt x="0" y="172892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15441757" y="0"/>
            <a:ext cx="2846243" cy="1733621"/>
          </a:xfrm>
          <a:custGeom>
            <a:avLst/>
            <a:gdLst/>
            <a:ahLst/>
            <a:cxnLst/>
            <a:rect r="r" b="b" t="t" l="l"/>
            <a:pathLst>
              <a:path h="1733621" w="2846243">
                <a:moveTo>
                  <a:pt x="0" y="1733621"/>
                </a:moveTo>
                <a:lnTo>
                  <a:pt x="2846243" y="1733621"/>
                </a:lnTo>
                <a:lnTo>
                  <a:pt x="2846243" y="0"/>
                </a:lnTo>
                <a:lnTo>
                  <a:pt x="0" y="0"/>
                </a:lnTo>
                <a:lnTo>
                  <a:pt x="0" y="1733621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28700" y="578644"/>
            <a:ext cx="16064712" cy="9036400"/>
          </a:xfrm>
          <a:custGeom>
            <a:avLst/>
            <a:gdLst/>
            <a:ahLst/>
            <a:cxnLst/>
            <a:rect r="r" b="b" t="t" l="l"/>
            <a:pathLst>
              <a:path h="9036400" w="16064712">
                <a:moveTo>
                  <a:pt x="0" y="0"/>
                </a:moveTo>
                <a:lnTo>
                  <a:pt x="16064712" y="0"/>
                </a:lnTo>
                <a:lnTo>
                  <a:pt x="16064712" y="9036400"/>
                </a:lnTo>
                <a:lnTo>
                  <a:pt x="0" y="903640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5383003" y="0"/>
            <a:ext cx="2904997" cy="1728925"/>
          </a:xfrm>
          <a:custGeom>
            <a:avLst/>
            <a:gdLst/>
            <a:ahLst/>
            <a:cxnLst/>
            <a:rect r="r" b="b" t="t" l="l"/>
            <a:pathLst>
              <a:path h="1728925" w="2904997">
                <a:moveTo>
                  <a:pt x="2904997" y="0"/>
                </a:moveTo>
                <a:lnTo>
                  <a:pt x="0" y="0"/>
                </a:lnTo>
                <a:lnTo>
                  <a:pt x="0" y="1728925"/>
                </a:lnTo>
                <a:lnTo>
                  <a:pt x="2904997" y="1728925"/>
                </a:lnTo>
                <a:lnTo>
                  <a:pt x="290499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0" y="8543543"/>
            <a:ext cx="2846243" cy="1733621"/>
          </a:xfrm>
          <a:custGeom>
            <a:avLst/>
            <a:gdLst/>
            <a:ahLst/>
            <a:cxnLst/>
            <a:rect r="r" b="b" t="t" l="l"/>
            <a:pathLst>
              <a:path h="1733621" w="2846243">
                <a:moveTo>
                  <a:pt x="2846243" y="0"/>
                </a:moveTo>
                <a:lnTo>
                  <a:pt x="0" y="0"/>
                </a:lnTo>
                <a:lnTo>
                  <a:pt x="0" y="1733620"/>
                </a:lnTo>
                <a:lnTo>
                  <a:pt x="2846243" y="1733620"/>
                </a:lnTo>
                <a:lnTo>
                  <a:pt x="2846243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52264" y="309216"/>
            <a:ext cx="17183473" cy="9668567"/>
          </a:xfrm>
          <a:custGeom>
            <a:avLst/>
            <a:gdLst/>
            <a:ahLst/>
            <a:cxnLst/>
            <a:rect r="r" b="b" t="t" l="l"/>
            <a:pathLst>
              <a:path h="9668567" w="17183473">
                <a:moveTo>
                  <a:pt x="0" y="0"/>
                </a:moveTo>
                <a:lnTo>
                  <a:pt x="17183472" y="0"/>
                </a:lnTo>
                <a:lnTo>
                  <a:pt x="17183472" y="9668568"/>
                </a:lnTo>
                <a:lnTo>
                  <a:pt x="0" y="966856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15383003" y="8558075"/>
            <a:ext cx="2904997" cy="1728925"/>
          </a:xfrm>
          <a:custGeom>
            <a:avLst/>
            <a:gdLst/>
            <a:ahLst/>
            <a:cxnLst/>
            <a:rect r="r" b="b" t="t" l="l"/>
            <a:pathLst>
              <a:path h="1728925" w="2904997">
                <a:moveTo>
                  <a:pt x="2904997" y="1728925"/>
                </a:moveTo>
                <a:lnTo>
                  <a:pt x="0" y="1728925"/>
                </a:lnTo>
                <a:lnTo>
                  <a:pt x="0" y="0"/>
                </a:lnTo>
                <a:lnTo>
                  <a:pt x="2904997" y="0"/>
                </a:lnTo>
                <a:lnTo>
                  <a:pt x="2904997" y="172892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0" y="-4695"/>
            <a:ext cx="2846243" cy="1733621"/>
          </a:xfrm>
          <a:custGeom>
            <a:avLst/>
            <a:gdLst/>
            <a:ahLst/>
            <a:cxnLst/>
            <a:rect r="r" b="b" t="t" l="l"/>
            <a:pathLst>
              <a:path h="1733621" w="2846243">
                <a:moveTo>
                  <a:pt x="2846243" y="1733620"/>
                </a:moveTo>
                <a:lnTo>
                  <a:pt x="0" y="1733620"/>
                </a:lnTo>
                <a:lnTo>
                  <a:pt x="0" y="0"/>
                </a:lnTo>
                <a:lnTo>
                  <a:pt x="2846243" y="0"/>
                </a:lnTo>
                <a:lnTo>
                  <a:pt x="2846243" y="173362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17087" y="2465059"/>
            <a:ext cx="6214550" cy="6417933"/>
          </a:xfrm>
          <a:custGeom>
            <a:avLst/>
            <a:gdLst/>
            <a:ahLst/>
            <a:cxnLst/>
            <a:rect r="r" b="b" t="t" l="l"/>
            <a:pathLst>
              <a:path h="6417933" w="6214550">
                <a:moveTo>
                  <a:pt x="0" y="0"/>
                </a:moveTo>
                <a:lnTo>
                  <a:pt x="6214549" y="0"/>
                </a:lnTo>
                <a:lnTo>
                  <a:pt x="6214549" y="6417933"/>
                </a:lnTo>
                <a:lnTo>
                  <a:pt x="0" y="641793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157" r="0" b="-157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5420191" y="-60960"/>
            <a:ext cx="8965293" cy="23146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63"/>
              </a:lnSpc>
            </a:pPr>
            <a:r>
              <a:rPr lang="en-US" b="true" sz="3331" i="true">
                <a:solidFill>
                  <a:srgbClr val="000000"/>
                </a:solidFill>
                <a:latin typeface="Times New Roman Bold Italics"/>
                <a:ea typeface="Times New Roman Bold Italics"/>
                <a:cs typeface="Times New Roman Bold Italics"/>
                <a:sym typeface="Times New Roman Bold Italics"/>
              </a:rPr>
              <a:t>Filled-In Tables —</a:t>
            </a:r>
            <a:r>
              <a:rPr lang="en-US" b="true" sz="3331" i="true">
                <a:solidFill>
                  <a:srgbClr val="000000"/>
                </a:solidFill>
                <a:latin typeface="Times New Roman Bold Italics"/>
                <a:ea typeface="Times New Roman Bold Italics"/>
                <a:cs typeface="Times New Roman Bold Italics"/>
                <a:sym typeface="Times New Roman Bold Italics"/>
              </a:rPr>
              <a:t> Real Query  Output</a:t>
            </a:r>
          </a:p>
          <a:p>
            <a:pPr algn="ctr">
              <a:lnSpc>
                <a:spcPts val="3108"/>
              </a:lnSpc>
            </a:pPr>
            <a:r>
              <a:rPr lang="en-US" sz="222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Sample rows loaded with INSERT statements, then confirmed with SELECT * — actual captured output</a:t>
            </a:r>
          </a:p>
          <a:p>
            <a:pPr algn="ctr">
              <a:lnSpc>
                <a:spcPts val="3730"/>
              </a:lnSpc>
            </a:pPr>
          </a:p>
          <a:p>
            <a:pPr algn="ctr">
              <a:lnSpc>
                <a:spcPts val="3730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6520779" y="1863090"/>
            <a:ext cx="9362599" cy="8423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99"/>
              </a:lnSpc>
              <a:spcBef>
                <a:spcPct val="0"/>
              </a:spcBef>
            </a:pPr>
            <a:r>
              <a:rPr lang="en-US" b="true" sz="2699" i="true">
                <a:solidFill>
                  <a:srgbClr val="000000"/>
                </a:solidFill>
                <a:latin typeface="Times New Roman Bold Italics"/>
                <a:ea typeface="Times New Roman Bold Italics"/>
                <a:cs typeface="Times New Roman Bold Italics"/>
                <a:sym typeface="Times New Roman Bold Italics"/>
              </a:rPr>
              <a:t>What each clause does</a:t>
            </a:r>
          </a:p>
          <a:p>
            <a:pPr algn="l">
              <a:lnSpc>
                <a:spcPts val="2699"/>
              </a:lnSpc>
              <a:spcBef>
                <a:spcPct val="0"/>
              </a:spcBef>
            </a:pPr>
          </a:p>
          <a:p>
            <a:pPr algn="l">
              <a:lnSpc>
                <a:spcPts val="210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SELECT</a:t>
            </a:r>
          </a:p>
          <a:p>
            <a:pPr algn="l">
              <a:lnSpc>
                <a:spcPts val="2100"/>
              </a:lnSpc>
              <a:spcBef>
                <a:spcPct val="0"/>
              </a:spcBef>
            </a:pPr>
            <a:r>
              <a:rPr lang="en-US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Chooses the information to display, including team, sport, coach, member </a:t>
            </a:r>
          </a:p>
          <a:p>
            <a:pPr algn="l">
              <a:lnSpc>
                <a:spcPts val="2100"/>
              </a:lnSpc>
              <a:spcBef>
                <a:spcPct val="0"/>
              </a:spcBef>
            </a:pPr>
            <a:r>
              <a:rPr lang="en-US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and the date the member joined the team.</a:t>
            </a:r>
          </a:p>
          <a:p>
            <a:pPr algn="l">
              <a:lnSpc>
                <a:spcPts val="2100"/>
              </a:lnSpc>
              <a:spcBef>
                <a:spcPct val="0"/>
              </a:spcBef>
            </a:pPr>
          </a:p>
          <a:p>
            <a:pPr algn="l">
              <a:lnSpc>
                <a:spcPts val="210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FROM team t</a:t>
            </a:r>
          </a:p>
          <a:p>
            <a:pPr algn="l">
              <a:lnSpc>
                <a:spcPts val="2100"/>
              </a:lnSpc>
              <a:spcBef>
                <a:spcPct val="0"/>
              </a:spcBef>
            </a:pPr>
            <a:r>
              <a:rPr lang="en-US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Starts with the TEAM table, which is the main entity for this report.</a:t>
            </a:r>
          </a:p>
          <a:p>
            <a:pPr algn="l">
              <a:lnSpc>
                <a:spcPts val="2100"/>
              </a:lnSpc>
              <a:spcBef>
                <a:spcPct val="0"/>
              </a:spcBef>
            </a:pPr>
          </a:p>
          <a:p>
            <a:pPr algn="l">
              <a:lnSpc>
                <a:spcPts val="210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JOIN sport s</a:t>
            </a:r>
          </a:p>
          <a:p>
            <a:pPr algn="l">
              <a:lnSpc>
                <a:spcPts val="2100"/>
              </a:lnSpc>
              <a:spcBef>
                <a:spcPct val="0"/>
              </a:spcBef>
            </a:pPr>
            <a:r>
              <a:rPr lang="en-US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Connects each team to its sport using sport_id, allowing the sport name to be displayed.</a:t>
            </a:r>
          </a:p>
          <a:p>
            <a:pPr algn="l">
              <a:lnSpc>
                <a:spcPts val="2100"/>
              </a:lnSpc>
              <a:spcBef>
                <a:spcPct val="0"/>
              </a:spcBef>
            </a:pPr>
          </a:p>
          <a:p>
            <a:pPr algn="l">
              <a:lnSpc>
                <a:spcPts val="210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LEFT JOIN coach c</a:t>
            </a:r>
          </a:p>
          <a:p>
            <a:pPr algn="l">
              <a:lnSpc>
                <a:spcPts val="2100"/>
              </a:lnSpc>
              <a:spcBef>
                <a:spcPct val="0"/>
              </a:spcBef>
            </a:pPr>
            <a:r>
              <a:rPr lang="en-US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Adds the assigned coach information while still keeping the team even if a coach</a:t>
            </a:r>
          </a:p>
          <a:p>
            <a:pPr algn="l">
              <a:lnSpc>
                <a:spcPts val="2100"/>
              </a:lnSpc>
              <a:spcBef>
                <a:spcPct val="0"/>
              </a:spcBef>
            </a:pPr>
            <a:r>
              <a:rPr lang="en-US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 not assigned.</a:t>
            </a:r>
          </a:p>
          <a:p>
            <a:pPr algn="l">
              <a:lnSpc>
                <a:spcPts val="2100"/>
              </a:lnSpc>
              <a:spcBef>
                <a:spcPct val="0"/>
              </a:spcBef>
            </a:pPr>
          </a:p>
          <a:p>
            <a:pPr algn="l">
              <a:lnSpc>
                <a:spcPts val="210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JOIN team_member tm</a:t>
            </a:r>
          </a:p>
          <a:p>
            <a:pPr algn="l">
              <a:lnSpc>
                <a:spcPts val="2100"/>
              </a:lnSpc>
              <a:spcBef>
                <a:spcPct val="0"/>
              </a:spcBef>
            </a:pPr>
            <a:r>
              <a:rPr lang="en-US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Connects teams with their members through the TEAM_MEMBER junction table.</a:t>
            </a:r>
          </a:p>
          <a:p>
            <a:pPr algn="l">
              <a:lnSpc>
                <a:spcPts val="2100"/>
              </a:lnSpc>
              <a:spcBef>
                <a:spcPct val="0"/>
              </a:spcBef>
            </a:pPr>
          </a:p>
          <a:p>
            <a:pPr algn="l">
              <a:lnSpc>
                <a:spcPts val="210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JOIN member m</a:t>
            </a:r>
          </a:p>
          <a:p>
            <a:pPr algn="l">
              <a:lnSpc>
                <a:spcPts val="2100"/>
              </a:lnSpc>
              <a:spcBef>
                <a:spcPct val="0"/>
              </a:spcBef>
            </a:pPr>
            <a:r>
              <a:rPr lang="en-US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Retrieves the member's personal information from the MEMBER table.</a:t>
            </a:r>
          </a:p>
          <a:p>
            <a:pPr algn="l">
              <a:lnSpc>
                <a:spcPts val="2100"/>
              </a:lnSpc>
              <a:spcBef>
                <a:spcPct val="0"/>
              </a:spcBef>
            </a:pPr>
          </a:p>
          <a:p>
            <a:pPr algn="l">
              <a:lnSpc>
                <a:spcPts val="210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ORDER BY</a:t>
            </a:r>
          </a:p>
          <a:p>
            <a:pPr algn="l">
              <a:lnSpc>
                <a:spcPts val="2100"/>
              </a:lnSpc>
              <a:spcBef>
                <a:spcPct val="0"/>
              </a:spcBef>
            </a:pPr>
            <a:r>
              <a:rPr lang="en-US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Sorts the result first by team name and then by member surname, </a:t>
            </a:r>
          </a:p>
          <a:p>
            <a:pPr algn="l">
              <a:lnSpc>
                <a:spcPts val="2100"/>
              </a:lnSpc>
              <a:spcBef>
                <a:spcPct val="0"/>
              </a:spcBef>
            </a:pPr>
            <a:r>
              <a:rPr lang="en-US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making the roster easier to read.</a:t>
            </a:r>
          </a:p>
          <a:p>
            <a:pPr algn="l">
              <a:lnSpc>
                <a:spcPts val="2100"/>
              </a:lnSpc>
              <a:spcBef>
                <a:spcPct val="0"/>
              </a:spcBef>
            </a:pPr>
          </a:p>
          <a:p>
            <a:pPr algn="l">
              <a:lnSpc>
                <a:spcPts val="210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Result</a:t>
            </a:r>
          </a:p>
          <a:p>
            <a:pPr algn="l">
              <a:lnSpc>
                <a:spcPts val="210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The query produces a complete team roster showing:</a:t>
            </a:r>
          </a:p>
          <a:p>
            <a:pPr algn="l">
              <a:lnSpc>
                <a:spcPts val="210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Team → Sport → Coach → Member → Joined Date</a:t>
            </a:r>
          </a:p>
          <a:p>
            <a:pPr algn="l">
              <a:lnSpc>
                <a:spcPts val="2100"/>
              </a:lnSpc>
              <a:spcBef>
                <a:spcPct val="0"/>
              </a:spcBef>
            </a:pPr>
          </a:p>
          <a:p>
            <a:pPr algn="l">
              <a:lnSpc>
                <a:spcPts val="210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597" y="0"/>
            <a:ext cx="2904997" cy="1728925"/>
          </a:xfrm>
          <a:custGeom>
            <a:avLst/>
            <a:gdLst/>
            <a:ahLst/>
            <a:cxnLst/>
            <a:rect r="r" b="b" t="t" l="l"/>
            <a:pathLst>
              <a:path h="1728925" w="2904997">
                <a:moveTo>
                  <a:pt x="0" y="0"/>
                </a:moveTo>
                <a:lnTo>
                  <a:pt x="2904997" y="0"/>
                </a:lnTo>
                <a:lnTo>
                  <a:pt x="2904997" y="1728925"/>
                </a:lnTo>
                <a:lnTo>
                  <a:pt x="0" y="172892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441757" y="8543543"/>
            <a:ext cx="2846243" cy="1733621"/>
          </a:xfrm>
          <a:custGeom>
            <a:avLst/>
            <a:gdLst/>
            <a:ahLst/>
            <a:cxnLst/>
            <a:rect r="r" b="b" t="t" l="l"/>
            <a:pathLst>
              <a:path h="1733621" w="2846243">
                <a:moveTo>
                  <a:pt x="0" y="0"/>
                </a:moveTo>
                <a:lnTo>
                  <a:pt x="2846243" y="0"/>
                </a:lnTo>
                <a:lnTo>
                  <a:pt x="2846243" y="1733620"/>
                </a:lnTo>
                <a:lnTo>
                  <a:pt x="0" y="17336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71223" y="1869942"/>
            <a:ext cx="11803439" cy="4669959"/>
          </a:xfrm>
          <a:custGeom>
            <a:avLst/>
            <a:gdLst/>
            <a:ahLst/>
            <a:cxnLst/>
            <a:rect r="r" b="b" t="t" l="l"/>
            <a:pathLst>
              <a:path h="4669959" w="11803439">
                <a:moveTo>
                  <a:pt x="0" y="0"/>
                </a:moveTo>
                <a:lnTo>
                  <a:pt x="11803440" y="0"/>
                </a:lnTo>
                <a:lnTo>
                  <a:pt x="11803440" y="4669960"/>
                </a:lnTo>
                <a:lnTo>
                  <a:pt x="0" y="466996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-1983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4602231" y="818833"/>
            <a:ext cx="9317712" cy="467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99"/>
              </a:lnSpc>
              <a:spcBef>
                <a:spcPct val="0"/>
              </a:spcBef>
            </a:pPr>
            <a:r>
              <a:rPr lang="en-US" b="true" sz="33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Query Execution — </a:t>
            </a:r>
            <a:r>
              <a:rPr lang="en-US" b="true" sz="33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Active Membership Summary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71223" y="7069073"/>
            <a:ext cx="11168062" cy="2967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SELECT</a:t>
            </a:r>
          </a:p>
          <a:p>
            <a:pPr algn="l">
              <a:lnSpc>
                <a:spcPts val="2100"/>
              </a:lnSpc>
              <a:spcBef>
                <a:spcPct val="0"/>
              </a:spcBef>
            </a:pPr>
            <a:r>
              <a:rPr lang="en-US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Selects the member name, membership plan, start date, end date, and remaining membership days.</a:t>
            </a:r>
          </a:p>
          <a:p>
            <a:pPr algn="l">
              <a:lnSpc>
                <a:spcPts val="2100"/>
              </a:lnSpc>
              <a:spcBef>
                <a:spcPct val="0"/>
              </a:spcBef>
            </a:pPr>
          </a:p>
          <a:p>
            <a:pPr algn="l">
              <a:lnSpc>
                <a:spcPts val="210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FROM v_active_members</a:t>
            </a:r>
          </a:p>
          <a:p>
            <a:pPr algn="l">
              <a:lnSpc>
                <a:spcPts val="2100"/>
              </a:lnSpc>
              <a:spcBef>
                <a:spcPct val="0"/>
              </a:spcBef>
            </a:pPr>
            <a:r>
              <a:rPr lang="en-US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Reads the required information from the v_active_members view containing active membership records.</a:t>
            </a:r>
          </a:p>
          <a:p>
            <a:pPr algn="l">
              <a:lnSpc>
                <a:spcPts val="2100"/>
              </a:lnSpc>
              <a:spcBef>
                <a:spcPct val="0"/>
              </a:spcBef>
            </a:pPr>
          </a:p>
          <a:p>
            <a:pPr algn="l">
              <a:lnSpc>
                <a:spcPts val="210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ORDER BY end_date ASC</a:t>
            </a:r>
          </a:p>
          <a:p>
            <a:pPr algn="l">
              <a:lnSpc>
                <a:spcPts val="2100"/>
              </a:lnSpc>
              <a:spcBef>
                <a:spcPct val="0"/>
              </a:spcBef>
            </a:pPr>
            <a:r>
              <a:rPr lang="en-US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Sorts memberships by expiry date, with the earliest-ending memberships shown first.</a:t>
            </a:r>
          </a:p>
          <a:p>
            <a:pPr algn="l">
              <a:lnSpc>
                <a:spcPts val="2100"/>
              </a:lnSpc>
              <a:spcBef>
                <a:spcPct val="0"/>
              </a:spcBef>
            </a:pPr>
          </a:p>
          <a:p>
            <a:pPr algn="l">
              <a:lnSpc>
                <a:spcPts val="210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LIMIT 4</a:t>
            </a:r>
          </a:p>
          <a:p>
            <a:pPr algn="l">
              <a:lnSpc>
                <a:spcPts val="2100"/>
              </a:lnSpc>
              <a:spcBef>
                <a:spcPct val="0"/>
              </a:spcBef>
            </a:pPr>
            <a:r>
              <a:rPr lang="en-US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Restricts the report to the first four records.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DAHXTPlEjeY</dc:identifier>
  <dcterms:modified xsi:type="dcterms:W3CDTF">2011-08-01T06:04:30Z</dcterms:modified>
  <cp:revision>1</cp:revision>
  <dc:title>Leadership and Management Roadmap Presentation</dc:title>
</cp:coreProperties>
</file>